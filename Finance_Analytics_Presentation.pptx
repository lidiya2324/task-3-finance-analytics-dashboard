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diya Mitiku" userId="5ec7c8c8a370735b" providerId="LiveId" clId="{700FEB36-13DF-43DC-951D-FF826CFF9CB3}"/>
    <pc:docChg chg="modSld">
      <pc:chgData name="Lidiya Mitiku" userId="5ec7c8c8a370735b" providerId="LiveId" clId="{700FEB36-13DF-43DC-951D-FF826CFF9CB3}" dt="2026-07-03T12:34:08.554" v="12" actId="14100"/>
      <pc:docMkLst>
        <pc:docMk/>
      </pc:docMkLst>
      <pc:sldChg chg="modSp mod">
        <pc:chgData name="Lidiya Mitiku" userId="5ec7c8c8a370735b" providerId="LiveId" clId="{700FEB36-13DF-43DC-951D-FF826CFF9CB3}" dt="2026-07-03T12:34:08.554" v="12" actId="14100"/>
        <pc:sldMkLst>
          <pc:docMk/>
          <pc:sldMk cId="0" sldId="256"/>
        </pc:sldMkLst>
        <pc:picChg chg="mod">
          <ac:chgData name="Lidiya Mitiku" userId="5ec7c8c8a370735b" providerId="LiveId" clId="{700FEB36-13DF-43DC-951D-FF826CFF9CB3}" dt="2026-07-03T12:34:08.554" v="12" actId="14100"/>
          <ac:picMkLst>
            <pc:docMk/>
            <pc:sldMk cId="0" sldId="256"/>
            <ac:picMk id="4" creationId="{00000000-0000-0000-0000-000000000000}"/>
          </ac:picMkLst>
        </pc:picChg>
      </pc:sldChg>
      <pc:sldChg chg="modSp mod">
        <pc:chgData name="Lidiya Mitiku" userId="5ec7c8c8a370735b" providerId="LiveId" clId="{700FEB36-13DF-43DC-951D-FF826CFF9CB3}" dt="2026-07-03T12:30:50.098" v="1" actId="20577"/>
        <pc:sldMkLst>
          <pc:docMk/>
          <pc:sldMk cId="0" sldId="257"/>
        </pc:sldMkLst>
        <pc:spChg chg="mod">
          <ac:chgData name="Lidiya Mitiku" userId="5ec7c8c8a370735b" providerId="LiveId" clId="{700FEB36-13DF-43DC-951D-FF826CFF9CB3}" dt="2026-07-03T12:30:50.098" v="1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Lidiya Mitiku" userId="5ec7c8c8a370735b" providerId="LiveId" clId="{700FEB36-13DF-43DC-951D-FF826CFF9CB3}" dt="2026-07-03T12:31:47.469" v="4" actId="20577"/>
        <pc:sldMkLst>
          <pc:docMk/>
          <pc:sldMk cId="0" sldId="258"/>
        </pc:sldMkLst>
        <pc:spChg chg="mod">
          <ac:chgData name="Lidiya Mitiku" userId="5ec7c8c8a370735b" providerId="LiveId" clId="{700FEB36-13DF-43DC-951D-FF826CFF9CB3}" dt="2026-07-03T12:31:47.469" v="4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Lidiya Mitiku" userId="5ec7c8c8a370735b" providerId="LiveId" clId="{700FEB36-13DF-43DC-951D-FF826CFF9CB3}" dt="2026-07-03T12:32:13.379" v="8" actId="14100"/>
        <pc:sldMkLst>
          <pc:docMk/>
          <pc:sldMk cId="0" sldId="259"/>
        </pc:sldMkLst>
        <pc:spChg chg="mod">
          <ac:chgData name="Lidiya Mitiku" userId="5ec7c8c8a370735b" providerId="LiveId" clId="{700FEB36-13DF-43DC-951D-FF826CFF9CB3}" dt="2026-07-03T12:32:13.379" v="8" actId="14100"/>
          <ac:spMkLst>
            <pc:docMk/>
            <pc:sldMk cId="0" sldId="259"/>
            <ac:spMk id="4" creationId="{00000000-0000-0000-0000-000000000000}"/>
          </ac:spMkLst>
        </pc:spChg>
        <pc:picChg chg="mod">
          <ac:chgData name="Lidiya Mitiku" userId="5ec7c8c8a370735b" providerId="LiveId" clId="{700FEB36-13DF-43DC-951D-FF826CFF9CB3}" dt="2026-07-03T12:32:10.861" v="7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Lidiya Mitiku" userId="5ec7c8c8a370735b" providerId="LiveId" clId="{700FEB36-13DF-43DC-951D-FF826CFF9CB3}" dt="2026-07-03T12:33:00.103" v="9"/>
        <pc:sldMkLst>
          <pc:docMk/>
          <pc:sldMk cId="0" sldId="261"/>
        </pc:sldMkLst>
        <pc:spChg chg="mod">
          <ac:chgData name="Lidiya Mitiku" userId="5ec7c8c8a370735b" providerId="LiveId" clId="{700FEB36-13DF-43DC-951D-FF826CFF9CB3}" dt="2026-07-03T12:33:00.103" v="9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Lidiya Mitiku" userId="5ec7c8c8a370735b" providerId="LiveId" clId="{700FEB36-13DF-43DC-951D-FF826CFF9CB3}" dt="2026-07-03T12:33:14.305" v="11" actId="20577"/>
        <pc:sldMkLst>
          <pc:docMk/>
          <pc:sldMk cId="0" sldId="262"/>
        </pc:sldMkLst>
        <pc:spChg chg="mod">
          <ac:chgData name="Lidiya Mitiku" userId="5ec7c8c8a370735b" providerId="LiveId" clId="{700FEB36-13DF-43DC-951D-FF826CFF9CB3}" dt="2026-07-03T12:33:14.305" v="11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544" y="758952"/>
            <a:ext cx="9415867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198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544" y="4800600"/>
            <a:ext cx="9415867" cy="1691640"/>
          </a:xfrm>
        </p:spPr>
        <p:txBody>
          <a:bodyPr>
            <a:normAutofit/>
          </a:bodyPr>
          <a:lstStyle>
            <a:lvl1pPr marL="0" indent="0" algn="l">
              <a:buNone/>
              <a:defRPr sz="2199" baseline="0">
                <a:solidFill>
                  <a:schemeClr val="tx1">
                    <a:lumMod val="75000"/>
                  </a:schemeClr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0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1077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544" y="758952"/>
            <a:ext cx="9415867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19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544" y="4800600"/>
            <a:ext cx="9415867" cy="1691640"/>
          </a:xfrm>
        </p:spPr>
        <p:txBody>
          <a:bodyPr anchor="t">
            <a:normAutofit/>
          </a:bodyPr>
          <a:lstStyle>
            <a:lvl1pPr marL="0" indent="0">
              <a:buNone/>
              <a:defRPr sz="21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0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086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543" y="1828801"/>
            <a:ext cx="4479393" cy="4351337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4885" y="1828801"/>
            <a:ext cx="4479393" cy="4351337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3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543" y="1713655"/>
            <a:ext cx="4479393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99" b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543" y="2507550"/>
            <a:ext cx="4479393" cy="366465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4885" y="1713655"/>
            <a:ext cx="4479393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999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lvl="0" indent="0" algn="l" defTabSz="914126" rtl="0" eaLnBrk="1" latinLnBrk="0" hangingPunct="1">
              <a:lnSpc>
                <a:spcPct val="90000"/>
              </a:lnSpc>
              <a:spcBef>
                <a:spcPts val="1999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4885" y="2507550"/>
            <a:ext cx="4479393" cy="366465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4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1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7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9" y="457201"/>
            <a:ext cx="3199567" cy="1600197"/>
          </a:xfrm>
        </p:spPr>
        <p:txBody>
          <a:bodyPr anchor="b">
            <a:normAutofit/>
          </a:bodyPr>
          <a:lstStyle>
            <a:lvl1pPr>
              <a:defRPr sz="3199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094" y="685800"/>
            <a:ext cx="6077483" cy="548640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029" y="2099735"/>
            <a:ext cx="3199567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89899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2" y="5257800"/>
            <a:ext cx="9979600" cy="914400"/>
          </a:xfrm>
        </p:spPr>
        <p:txBody>
          <a:bodyPr anchor="b">
            <a:normAutofit/>
          </a:bodyPr>
          <a:lstStyle>
            <a:lvl1pPr>
              <a:defRPr sz="279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11289899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62" y="6108590"/>
            <a:ext cx="99796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6448" y="381000"/>
            <a:ext cx="247585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1801" y="381000"/>
            <a:ext cx="7732286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8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89899" y="0"/>
            <a:ext cx="914162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543" y="365760"/>
            <a:ext cx="9690116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543" y="1828801"/>
            <a:ext cx="8593122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4483" y="998585"/>
            <a:ext cx="1904999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6281" y="4046585"/>
            <a:ext cx="3581400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899" y="6172201"/>
            <a:ext cx="914162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599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2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25" indent="-182825" algn="l" defTabSz="914126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799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301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538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79776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52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43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34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25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rPr dirty="0"/>
              <a:t>Finance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24724" y="930526"/>
            <a:ext cx="38957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sz="1600" dirty="0"/>
              <a:t>Task 3 – Dashboard Design</a:t>
            </a:r>
            <a:endParaRPr lang="en-US" sz="1600" dirty="0"/>
          </a:p>
          <a:p>
            <a:pPr>
              <a:defRPr sz="2600" b="1"/>
            </a:pPr>
            <a:endParaRPr sz="1600" dirty="0"/>
          </a:p>
          <a:p>
            <a:pPr>
              <a:defRPr sz="2000"/>
            </a:pPr>
            <a:r>
              <a:rPr sz="1600" b="1" dirty="0"/>
              <a:t>Prepared by</a:t>
            </a:r>
            <a:r>
              <a:rPr sz="1600" dirty="0"/>
              <a:t>: Lidiya </a:t>
            </a:r>
            <a:r>
              <a:rPr lang="en-US" sz="1600" dirty="0"/>
              <a:t>Mitiku </a:t>
            </a:r>
            <a:r>
              <a:rPr sz="1600" dirty="0" err="1"/>
              <a:t>Duguma</a:t>
            </a:r>
            <a:endParaRPr lang="en-US" sz="1600" dirty="0"/>
          </a:p>
          <a:p>
            <a:pPr>
              <a:defRPr sz="2000"/>
            </a:pPr>
            <a:endParaRPr sz="1600" dirty="0"/>
          </a:p>
          <a:p>
            <a:pPr>
              <a:defRPr sz="2000"/>
            </a:pPr>
            <a:r>
              <a:rPr sz="1600" b="1" dirty="0"/>
              <a:t>Organization</a:t>
            </a:r>
            <a:r>
              <a:rPr sz="1600" dirty="0"/>
              <a:t>: Ministry of MSME Internship</a:t>
            </a:r>
            <a:endParaRPr lang="en-US" sz="1600" dirty="0"/>
          </a:p>
          <a:p>
            <a:pPr>
              <a:defRPr sz="2000"/>
            </a:pPr>
            <a:endParaRPr sz="1600" dirty="0"/>
          </a:p>
          <a:p>
            <a:pPr>
              <a:defRPr sz="2000"/>
            </a:pPr>
            <a:r>
              <a:rPr sz="1600" b="1" dirty="0"/>
              <a:t>Tools</a:t>
            </a:r>
            <a:r>
              <a:rPr sz="1600" dirty="0"/>
              <a:t>: Power BI • Power Query • DAX</a:t>
            </a:r>
          </a:p>
        </p:txBody>
      </p:sp>
      <p:pic>
        <p:nvPicPr>
          <p:cNvPr id="4" name="Picture 3" descr="Finance Analysis Overview P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873872"/>
            <a:ext cx="6958965" cy="47458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42995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rPr lang="en-US" dirty="0"/>
              <a:t>📈 </a:t>
            </a:r>
            <a:r>
              <a:rPr dirty="0"/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6376035" cy="481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endParaRPr lang="en-US" dirty="0"/>
          </a:p>
          <a:p>
            <a:pPr>
              <a:defRPr sz="2200" b="1"/>
            </a:pPr>
            <a:r>
              <a:rPr dirty="0"/>
              <a:t>Objectives</a:t>
            </a:r>
            <a:endParaRPr lang="en-US" dirty="0"/>
          </a:p>
          <a:p>
            <a:pPr>
              <a:defRPr sz="2200" b="1"/>
            </a:pPr>
            <a:endParaRPr dirty="0"/>
          </a:p>
          <a:p>
            <a:pPr>
              <a:lnSpc>
                <a:spcPct val="250000"/>
              </a:lnSpc>
              <a:defRPr sz="1800"/>
            </a:pPr>
            <a:r>
              <a:rPr sz="2000" dirty="0"/>
              <a:t>• Monitor KPIs in real time.</a:t>
            </a:r>
          </a:p>
          <a:p>
            <a:pPr>
              <a:lnSpc>
                <a:spcPct val="250000"/>
              </a:lnSpc>
              <a:defRPr sz="1800"/>
            </a:pPr>
            <a:r>
              <a:rPr sz="2000" dirty="0"/>
              <a:t>• Analyze transaction trends.</a:t>
            </a:r>
          </a:p>
          <a:p>
            <a:pPr>
              <a:lnSpc>
                <a:spcPct val="250000"/>
              </a:lnSpc>
              <a:defRPr sz="1800"/>
            </a:pPr>
            <a:r>
              <a:rPr sz="2000" dirty="0"/>
              <a:t>• Compare customer segments and states.</a:t>
            </a:r>
          </a:p>
          <a:p>
            <a:pPr>
              <a:lnSpc>
                <a:spcPct val="250000"/>
              </a:lnSpc>
              <a:defRPr sz="1800"/>
            </a:pPr>
            <a:r>
              <a:rPr sz="2000" dirty="0"/>
              <a:t>• Track fees, tax and transaction performance.</a:t>
            </a:r>
          </a:p>
          <a:p>
            <a:pPr>
              <a:lnSpc>
                <a:spcPct val="250000"/>
              </a:lnSpc>
              <a:defRPr sz="1800"/>
            </a:pPr>
            <a:r>
              <a:rPr sz="2000" dirty="0"/>
              <a:t>• Support business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rPr dirty="0"/>
              <a:t>Executive Dashboard Overview</a:t>
            </a:r>
          </a:p>
        </p:txBody>
      </p:sp>
      <p:pic>
        <p:nvPicPr>
          <p:cNvPr id="3" name="Picture 2" descr="Finance Analysis Overview P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731520"/>
            <a:ext cx="7835264" cy="5059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01025" y="876300"/>
            <a:ext cx="3381375" cy="441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US" sz="2000" dirty="0"/>
              <a:t>💰</a:t>
            </a:r>
            <a:r>
              <a:rPr sz="2400" dirty="0"/>
              <a:t>Key Highlights</a:t>
            </a:r>
            <a:endParaRPr lang="en-US" sz="2400" dirty="0"/>
          </a:p>
          <a:p>
            <a:pPr>
              <a:defRPr sz="2200" b="1"/>
            </a:pPr>
            <a:endParaRPr sz="2400" dirty="0"/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₹137.53M Total Amount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14.94K Transactions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₹9.20K Average Value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Retail segment leads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Maharashtra highest state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85%+ Successful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Transaction Analysis</a:t>
            </a:r>
          </a:p>
        </p:txBody>
      </p:sp>
      <p:pic>
        <p:nvPicPr>
          <p:cNvPr id="3" name="Picture 2" descr="Transaction P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731520"/>
            <a:ext cx="7787640" cy="4189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53401" y="914400"/>
            <a:ext cx="3333749" cy="367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US" sz="1600" dirty="0"/>
              <a:t>📊</a:t>
            </a:r>
            <a:r>
              <a:rPr sz="2000" dirty="0"/>
              <a:t>Dashboard Features</a:t>
            </a:r>
            <a:endParaRPr lang="en-US" sz="2000" dirty="0"/>
          </a:p>
          <a:p>
            <a:pPr>
              <a:defRPr sz="2200" b="1"/>
            </a:pPr>
            <a:endParaRPr sz="2000" dirty="0"/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Detailed transaction records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Interactive filters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Customer-level analysis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Transaction status</a:t>
            </a:r>
          </a:p>
          <a:p>
            <a:pPr>
              <a:lnSpc>
                <a:spcPct val="250000"/>
              </a:lnSpc>
              <a:defRPr sz="1800"/>
            </a:pPr>
            <a:r>
              <a:rPr sz="1600" dirty="0"/>
              <a:t>• Fees &amp; tax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6957060" cy="41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Business Insights</a:t>
            </a:r>
            <a:endParaRPr lang="en-US" dirty="0"/>
          </a:p>
          <a:p>
            <a:pPr>
              <a:defRPr sz="2200" b="1"/>
            </a:pPr>
            <a:endParaRPr dirty="0"/>
          </a:p>
          <a:p>
            <a:pPr>
              <a:lnSpc>
                <a:spcPct val="250000"/>
              </a:lnSpc>
              <a:defRPr sz="1800"/>
            </a:pPr>
            <a:r>
              <a:rPr dirty="0"/>
              <a:t>• Retail customers generated the highest amount.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Loan EMI was the top transaction type.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Monthly trends reveal seasonal changes.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Dashboard supports YoY KPI monitoring.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Interactive slicers improve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59"/>
            <a:ext cx="11071860" cy="41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US" dirty="0"/>
              <a:t>💡</a:t>
            </a:r>
            <a:r>
              <a:rPr dirty="0"/>
              <a:t>Recommendations</a:t>
            </a:r>
            <a:endParaRPr lang="en-US" dirty="0"/>
          </a:p>
          <a:p>
            <a:pPr>
              <a:defRPr sz="2200" b="1"/>
            </a:pPr>
            <a:endParaRPr dirty="0"/>
          </a:p>
          <a:p>
            <a:pPr>
              <a:lnSpc>
                <a:spcPct val="250000"/>
              </a:lnSpc>
              <a:defRPr sz="1800"/>
            </a:pPr>
            <a:r>
              <a:rPr dirty="0"/>
              <a:t>• Focus on high-value customer segments.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Reduce failed and pending transactions.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Monitor KPIs monthly.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Use dashboard for executive reporting.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Expand successful financial products.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E"/>
                </a:solidFill>
              </a:defRPr>
            </a:pPr>
            <a: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519" y="827622"/>
            <a:ext cx="2991525" cy="5847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US" dirty="0"/>
              <a:t>🚀 </a:t>
            </a:r>
            <a:r>
              <a:rPr dirty="0"/>
              <a:t>Technical Skills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Power BI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Power Query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DAX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Data Cleaning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Data Modeling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Dashboard Design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Financial Analytics</a:t>
            </a:r>
          </a:p>
          <a:p>
            <a:pPr>
              <a:lnSpc>
                <a:spcPct val="250000"/>
              </a:lnSpc>
              <a:defRPr sz="1800"/>
            </a:pPr>
            <a:r>
              <a:rPr dirty="0"/>
              <a:t>•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MSME Data Analyst Internship | Finance Analytics Dashboard |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20</TotalTime>
  <Words>296</Words>
  <Application>Microsoft Office PowerPoint</Application>
  <PresentationFormat>Custom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Lidiya Mitiku</cp:lastModifiedBy>
  <cp:revision>3</cp:revision>
  <dcterms:created xsi:type="dcterms:W3CDTF">2013-01-27T09:14:16Z</dcterms:created>
  <dcterms:modified xsi:type="dcterms:W3CDTF">2026-07-03T12:35:02Z</dcterms:modified>
  <cp:category/>
</cp:coreProperties>
</file>